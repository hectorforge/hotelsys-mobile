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0"/>
  </p:notesMasterIdLst>
  <p:handoutMasterIdLst>
    <p:handoutMasterId r:id="rId21"/>
  </p:handoutMasterIdLst>
  <p:sldIdLst>
    <p:sldId id="256" r:id="rId5"/>
    <p:sldId id="265" r:id="rId6"/>
    <p:sldId id="276" r:id="rId7"/>
    <p:sldId id="267" r:id="rId8"/>
    <p:sldId id="274" r:id="rId9"/>
    <p:sldId id="275" r:id="rId10"/>
    <p:sldId id="277" r:id="rId11"/>
    <p:sldId id="268" r:id="rId12"/>
    <p:sldId id="266" r:id="rId13"/>
    <p:sldId id="269" r:id="rId14"/>
    <p:sldId id="271" r:id="rId15"/>
    <p:sldId id="270" r:id="rId16"/>
    <p:sldId id="272" r:id="rId17"/>
    <p:sldId id="273" r:id="rId18"/>
    <p:sldId id="279" r:id="rId19"/>
  </p:sldIdLst>
  <p:sldSz cx="12188825" cy="6858000"/>
  <p:notesSz cx="6858000" cy="9144000"/>
  <p:defaultTextStyle>
    <a:defPPr rtl="0"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8" pos="383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I202403725 (Aliaga Parraga,Luis Erick)" initials="LA" lastIdx="1" clrIdx="0">
    <p:extLst>
      <p:ext uri="{19B8F6BF-5375-455C-9EA6-DF929625EA0E}">
        <p15:presenceInfo xmlns:p15="http://schemas.microsoft.com/office/powerpoint/2012/main" userId="S::I202403725@cibertec.edu.pe::576c46e6-7a1e-4bc8-9108-dbf916b63293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008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25" autoAdjust="0"/>
    <p:restoredTop sz="94706" autoAdjust="0"/>
  </p:normalViewPr>
  <p:slideViewPr>
    <p:cSldViewPr showGuides="1">
      <p:cViewPr varScale="1">
        <p:scale>
          <a:sx n="70" d="100"/>
          <a:sy n="70" d="100"/>
        </p:scale>
        <p:origin x="540" y="54"/>
      </p:cViewPr>
      <p:guideLst>
        <p:guide orient="horz" pos="2160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46" d="100"/>
          <a:sy n="46" d="100"/>
        </p:scale>
        <p:origin x="660" y="4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s-ES" dirty="0"/>
          </a:p>
        </p:txBody>
      </p:sp>
      <p:sp>
        <p:nvSpPr>
          <p:cNvPr id="3" name="Marcador de fech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CC91A5D5-FFF8-46DF-9C0E-0D4F23F47441}" type="datetime1">
              <a:rPr lang="es-ES" smtClean="0"/>
              <a:t>10/10/2025</a:t>
            </a:fld>
            <a:endParaRPr lang="es-ES" dirty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s-ES"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CA4CBEF8-5CDE-472B-839B-B8BB0C881006}" type="slidenum">
              <a:rPr lang="es-ES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26328929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s-ES" noProof="0" dirty="0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C2F57AFA-577C-4932-92E9-D908A67F120F}" type="datetime1">
              <a:rPr lang="es-ES" noProof="0" smtClean="0"/>
              <a:t>10/10/2025</a:t>
            </a:fld>
            <a:endParaRPr lang="es-ES" noProof="0" dirty="0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s-ES" noProof="0" dirty="0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es-ES" noProof="0" dirty="0"/>
              <a:t>Haga clic para modificar los estilos de texto del patrón</a:t>
            </a:r>
          </a:p>
          <a:p>
            <a:pPr lvl="1" rtl="0"/>
            <a:r>
              <a:rPr lang="es-ES" noProof="0" dirty="0"/>
              <a:t>Segundo nivel</a:t>
            </a:r>
          </a:p>
          <a:p>
            <a:pPr lvl="2" rtl="0"/>
            <a:r>
              <a:rPr lang="es-ES" noProof="0" dirty="0"/>
              <a:t>Tercer nivel</a:t>
            </a:r>
          </a:p>
          <a:p>
            <a:pPr lvl="3" rtl="0"/>
            <a:r>
              <a:rPr lang="es-ES" noProof="0" dirty="0"/>
              <a:t>Cuarto nivel</a:t>
            </a:r>
          </a:p>
          <a:p>
            <a:pPr lvl="4" rtl="0"/>
            <a:r>
              <a:rPr lang="es-ES" noProof="0" dirty="0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s-ES" noProof="0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6BB98AFB-CB0D-4DFE-87B9-B4B0D0DE73CD}" type="slidenum">
              <a:rPr lang="es-ES" noProof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251280581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6BB98AFB-CB0D-4DFE-87B9-B4B0D0DE73CD}" type="slidenum">
              <a:rPr lang="es-ES" smtClean="0"/>
              <a:t>1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7510086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6BB98AFB-CB0D-4DFE-87B9-B4B0D0DE73CD}" type="slidenum">
              <a:rPr lang="es-ES" smtClean="0"/>
              <a:t>2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9382229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065214" y="533400"/>
            <a:ext cx="5029200" cy="2514601"/>
          </a:xfrm>
        </p:spPr>
        <p:txBody>
          <a:bodyPr rtlCol="0">
            <a:normAutofit/>
          </a:bodyPr>
          <a:lstStyle>
            <a:lvl1pPr>
              <a:lnSpc>
                <a:spcPct val="80000"/>
              </a:lnSpc>
              <a:defRPr sz="5400"/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065212" y="3403600"/>
            <a:ext cx="5029201" cy="1397000"/>
          </a:xfrm>
        </p:spPr>
        <p:txBody>
          <a:bodyPr rtlCol="0">
            <a:normAutofit/>
          </a:bodyPr>
          <a:lstStyle>
            <a:lvl1pPr marL="0" indent="0" algn="l">
              <a:spcBef>
                <a:spcPts val="600"/>
              </a:spcBef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es-ES" noProof="0"/>
              <a:t>Haga clic para modificar el estilo de subtítulo del patrón</a:t>
            </a:r>
            <a:endParaRPr lang="es-ES" noProof="0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s-ES" noProof="0" dirty="0"/>
              <a:t>Agregar un pie de página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5F0BD41-664D-4ABB-BED5-60658B66DD7C}" type="datetime1">
              <a:rPr lang="es-ES" noProof="0" smtClean="0"/>
              <a:t>10/10/2025</a:t>
            </a:fld>
            <a:endParaRPr lang="es-ES" noProof="0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AEAE4A8-A6E5-453E-B946-FB774B73F48C}" type="slidenum">
              <a:rPr lang="es-ES" noProof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6647520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  <a:endParaRPr lang="es-ES" noProof="0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s-ES" noProof="0" dirty="0"/>
              <a:t>Agregar un pie de página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CAFB294-75A7-4B00-B220-CD65C2131025}" type="datetime1">
              <a:rPr lang="es-ES" noProof="0" smtClean="0"/>
              <a:t>10/10/2025</a:t>
            </a:fld>
            <a:endParaRPr lang="es-ES" noProof="0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AEAE4A8-A6E5-453E-B946-FB774B73F48C}" type="slidenum">
              <a:rPr lang="es-ES" noProof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24291533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65214" y="533400"/>
            <a:ext cx="8686800" cy="2286000"/>
          </a:xfrm>
        </p:spPr>
        <p:txBody>
          <a:bodyPr rtlCol="0" anchor="b">
            <a:normAutofit/>
          </a:bodyPr>
          <a:lstStyle>
            <a:lvl1pPr algn="l">
              <a:defRPr sz="5400" b="1" cap="none" baseline="0"/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1065214" y="3124200"/>
            <a:ext cx="8686800" cy="1371600"/>
          </a:xfrm>
        </p:spPr>
        <p:txBody>
          <a:bodyPr rtlCol="0" anchor="t">
            <a:normAutofit/>
          </a:bodyPr>
          <a:lstStyle>
            <a:lvl1pPr marL="0" indent="0">
              <a:spcBef>
                <a:spcPts val="600"/>
              </a:spcBef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s-ES" noProof="0" dirty="0"/>
              <a:t>Agregar un pie de página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6EC0E9D-6882-4573-BA34-049B7160C60E}" type="datetime1">
              <a:rPr lang="es-ES" noProof="0" smtClean="0"/>
              <a:t>10/10/2025</a:t>
            </a:fld>
            <a:endParaRPr lang="es-ES" noProof="0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AEAE4A8-A6E5-453E-B946-FB774B73F48C}" type="slidenum">
              <a:rPr lang="es-ES" noProof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37013312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1065212" y="1828800"/>
            <a:ext cx="4251960" cy="4191000"/>
          </a:xfrm>
        </p:spPr>
        <p:txBody>
          <a:bodyPr rtlCol="0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  <a:endParaRPr lang="es-ES" noProof="0" dirty="0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5464598" y="1828800"/>
            <a:ext cx="4251960" cy="4191000"/>
          </a:xfrm>
        </p:spPr>
        <p:txBody>
          <a:bodyPr rtlCol="0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  <a:endParaRPr lang="es-ES" noProof="0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s-ES" noProof="0" dirty="0"/>
              <a:t>Agregar un pie de página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9F87BAA-EB97-4293-BA03-25DA42ED3F33}" type="datetime1">
              <a:rPr lang="es-ES" noProof="0" smtClean="0"/>
              <a:t>10/10/2025</a:t>
            </a:fld>
            <a:endParaRPr lang="es-ES" noProof="0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AEAE4A8-A6E5-453E-B946-FB774B73F48C}" type="slidenum">
              <a:rPr lang="es-ES" noProof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34137094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/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1065213" y="1828799"/>
            <a:ext cx="4251960" cy="685801"/>
          </a:xfrm>
        </p:spPr>
        <p:txBody>
          <a:bodyPr rtlCol="0" anchor="ctr">
            <a:normAutofit/>
          </a:bodyPr>
          <a:lstStyle>
            <a:lvl1pPr marL="0" indent="0">
              <a:spcBef>
                <a:spcPts val="0"/>
              </a:spcBef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1065213" y="2590800"/>
            <a:ext cx="4251960" cy="3429000"/>
          </a:xfrm>
        </p:spPr>
        <p:txBody>
          <a:bodyPr rtlCol="0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  <a:endParaRPr lang="es-ES" noProof="0" dirty="0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5500053" y="1828799"/>
            <a:ext cx="4251960" cy="685801"/>
          </a:xfrm>
        </p:spPr>
        <p:txBody>
          <a:bodyPr rtlCol="0" anchor="ctr">
            <a:normAutofit/>
          </a:bodyPr>
          <a:lstStyle>
            <a:lvl1pPr marL="0" indent="0">
              <a:spcBef>
                <a:spcPts val="0"/>
              </a:spcBef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5500053" y="2590800"/>
            <a:ext cx="4251960" cy="3429000"/>
          </a:xfrm>
        </p:spPr>
        <p:txBody>
          <a:bodyPr rtlCol="0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  <a:endParaRPr lang="es-ES" noProof="0" dirty="0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s-ES" noProof="0" dirty="0"/>
              <a:t>Agregar un pie de página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4873C6C-A638-4A2B-8C7B-738C92DEBADC}" type="datetime1">
              <a:rPr lang="es-ES" noProof="0" smtClean="0"/>
              <a:t>10/10/2025</a:t>
            </a:fld>
            <a:endParaRPr lang="es-ES" noProof="0" dirty="0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AEAE4A8-A6E5-453E-B946-FB774B73F48C}" type="slidenum">
              <a:rPr lang="es-ES" noProof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2000784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s-ES" noProof="0" dirty="0"/>
              <a:t>Agregar un pie de página</a:t>
            </a:r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DAB7FA5-3598-48B9-9C77-8C3FE03A7F24}" type="datetime1">
              <a:rPr lang="es-ES" noProof="0" smtClean="0"/>
              <a:t>10/10/2025</a:t>
            </a:fld>
            <a:endParaRPr lang="es-ES" noProof="0"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AEAE4A8-A6E5-453E-B946-FB774B73F48C}" type="slidenum">
              <a:rPr lang="es-ES" noProof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9071586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s-ES" noProof="0" dirty="0"/>
              <a:t>Agregar un pie de página</a:t>
            </a:r>
          </a:p>
        </p:txBody>
      </p:sp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855685E-F8EB-43D9-9EDD-55E7759E9BB9}" type="datetime1">
              <a:rPr lang="es-ES" noProof="0" smtClean="0"/>
              <a:t>10/10/2025</a:t>
            </a:fld>
            <a:endParaRPr lang="es-ES" noProof="0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AEAE4A8-A6E5-453E-B946-FB774B73F48C}" type="slidenum">
              <a:rPr lang="es-ES" noProof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24415315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65213" y="533400"/>
            <a:ext cx="4114800" cy="1524000"/>
          </a:xfrm>
        </p:spPr>
        <p:txBody>
          <a:bodyPr rtlCol="0" anchor="b">
            <a:normAutofit/>
          </a:bodyPr>
          <a:lstStyle>
            <a:lvl1pPr algn="l">
              <a:defRPr sz="3600" b="1"/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865813" y="533400"/>
            <a:ext cx="5867400" cy="5486400"/>
          </a:xfrm>
        </p:spPr>
        <p:txBody>
          <a:bodyPr rtlCol="0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  <a:endParaRPr lang="es-ES" noProof="0" dirty="0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1065213" y="2209800"/>
            <a:ext cx="4114800" cy="3810000"/>
          </a:xfrm>
        </p:spPr>
        <p:txBody>
          <a:bodyPr rtlCol="0">
            <a:normAutofit/>
          </a:bodyPr>
          <a:lstStyle>
            <a:lvl1pPr marL="0" indent="0">
              <a:lnSpc>
                <a:spcPct val="110000"/>
              </a:lnSpc>
              <a:spcBef>
                <a:spcPts val="600"/>
              </a:spcBef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s-ES" noProof="0" dirty="0"/>
              <a:t>Agregar un pie de página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5392E02-8288-486A-A35E-2FB446293FE3}" type="datetime1">
              <a:rPr lang="es-ES" noProof="0" smtClean="0"/>
              <a:t>10/10/2025</a:t>
            </a:fld>
            <a:endParaRPr lang="es-ES" noProof="0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AEAE4A8-A6E5-453E-B946-FB774B73F48C}" type="slidenum">
              <a:rPr lang="es-ES" noProof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21017111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leyenda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65213" y="533400"/>
            <a:ext cx="4114800" cy="1524000"/>
          </a:xfrm>
        </p:spPr>
        <p:txBody>
          <a:bodyPr rtlCol="0" anchor="b">
            <a:noAutofit/>
          </a:bodyPr>
          <a:lstStyle>
            <a:lvl1pPr algn="l">
              <a:defRPr sz="3600" b="1"/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imagen 2" descr="Marcador de posición vacío para agregar una imagen. Haga clic en el marcador de posición y seleccione la imagen que desee agregar"/>
          <p:cNvSpPr>
            <a:spLocks noGrp="1"/>
          </p:cNvSpPr>
          <p:nvPr>
            <p:ph type="pic" idx="1"/>
          </p:nvPr>
        </p:nvSpPr>
        <p:spPr>
          <a:xfrm>
            <a:off x="5865812" y="533400"/>
            <a:ext cx="5780173" cy="5791200"/>
          </a:xfrm>
          <a:ln w="50800">
            <a:solidFill>
              <a:schemeClr val="tx1">
                <a:lumMod val="65000"/>
                <a:lumOff val="35000"/>
              </a:schemeClr>
            </a:solidFill>
            <a:miter lim="800000"/>
          </a:ln>
        </p:spPr>
        <p:txBody>
          <a:bodyPr rtlCol="0">
            <a:normAutofit/>
          </a:bodyPr>
          <a:lstStyle>
            <a:lvl1pPr marL="0" indent="0" algn="ctr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es-ES" noProof="0"/>
              <a:t>Haga clic en el icono para agregar una imagen</a:t>
            </a:r>
            <a:endParaRPr lang="es-ES" noProof="0" dirty="0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1065213" y="2209800"/>
            <a:ext cx="4114800" cy="3810000"/>
          </a:xfrm>
        </p:spPr>
        <p:txBody>
          <a:bodyPr rtlCol="0">
            <a:normAutofit/>
          </a:bodyPr>
          <a:lstStyle>
            <a:lvl1pPr marL="0" indent="0">
              <a:lnSpc>
                <a:spcPct val="110000"/>
              </a:lnSpc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14196082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/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  <a:endParaRPr lang="es-ES" noProof="0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s-ES" noProof="0" dirty="0"/>
              <a:t>Agregar un pie de página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079A989-1972-408F-82FF-A58E53892B77}" type="datetime1">
              <a:rPr lang="es-ES" noProof="0" smtClean="0"/>
              <a:t>10/10/2025</a:t>
            </a:fld>
            <a:endParaRPr lang="es-ES" noProof="0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AEAE4A8-A6E5-453E-B946-FB774B73F48C}" type="slidenum">
              <a:rPr lang="es-ES" noProof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26680935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61412" y="533400"/>
            <a:ext cx="2362201" cy="5486400"/>
          </a:xfrm>
        </p:spPr>
        <p:txBody>
          <a:bodyPr vert="eaVert" rtlCol="0"/>
          <a:lstStyle/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1065213" y="533400"/>
            <a:ext cx="7467599" cy="5486400"/>
          </a:xfrm>
        </p:spPr>
        <p:txBody>
          <a:bodyPr vert="eaVert" rtlCol="0"/>
          <a:lstStyle/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  <a:endParaRPr lang="es-ES" noProof="0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s-ES" noProof="0" dirty="0"/>
              <a:t>Agregar un pie de página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ECD3A61-A9C3-4CD9-B800-BFDBF3EEB1B4}" type="datetime1">
              <a:rPr lang="es-ES" noProof="0" smtClean="0"/>
              <a:t>10/10/2025</a:t>
            </a:fld>
            <a:endParaRPr lang="es-ES" noProof="0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AEAE4A8-A6E5-453E-B946-FB774B73F48C}" type="slidenum">
              <a:rPr lang="es-ES" noProof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1882449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1065212" y="533400"/>
            <a:ext cx="8686801" cy="10668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es-ES" noProof="0" dirty="0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1065212" y="1828800"/>
            <a:ext cx="8686801" cy="4191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es-ES" noProof="0" dirty="0"/>
              <a:t>Haga clic para modificar los estilos de texto del patrón</a:t>
            </a:r>
          </a:p>
          <a:p>
            <a:pPr lvl="1" rtl="0"/>
            <a:r>
              <a:rPr lang="es-ES" noProof="0" dirty="0"/>
              <a:t>Segundo nivel</a:t>
            </a:r>
          </a:p>
          <a:p>
            <a:pPr lvl="2" rtl="0"/>
            <a:r>
              <a:rPr lang="es-ES" noProof="0" dirty="0"/>
              <a:t>Tercer nivel</a:t>
            </a:r>
          </a:p>
          <a:p>
            <a:pPr lvl="3" rtl="0"/>
            <a:r>
              <a:rPr lang="es-ES" noProof="0" dirty="0"/>
              <a:t>Cuarto nivel</a:t>
            </a:r>
          </a:p>
          <a:p>
            <a:pPr lvl="4" rtl="0"/>
            <a:r>
              <a:rPr lang="es-ES" noProof="0" dirty="0"/>
              <a:t>Quinto nivel</a:t>
            </a: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1065213" y="6155267"/>
            <a:ext cx="5653087" cy="273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r>
              <a:rPr lang="es-ES" noProof="0" dirty="0"/>
              <a:t>Agregar un pie de página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6932612" y="6155267"/>
            <a:ext cx="1371600" cy="273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5F0077C4-AA9A-431A-A8F9-E2A2FBCC5765}" type="datetime1">
              <a:rPr lang="es-ES" noProof="0" smtClean="0"/>
              <a:t>10/10/2025</a:t>
            </a:fld>
            <a:endParaRPr lang="es-ES" noProof="0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532812" y="6155267"/>
            <a:ext cx="1219201" cy="273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AAEAE4A8-A6E5-453E-B946-FB774B73F48C}" type="slidenum">
              <a:rPr lang="es-ES" noProof="0" smtClean="0"/>
              <a:pPr rtl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15970541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3600" b="1" kern="1200">
          <a:solidFill>
            <a:schemeClr val="accent1">
              <a:lumMod val="75000"/>
            </a:schemeClr>
          </a:solidFill>
          <a:latin typeface="+mj-lt"/>
          <a:ea typeface="+mj-ea"/>
          <a:cs typeface="+mj-cs"/>
        </a:defRPr>
      </a:lvl1pPr>
    </p:titleStyle>
    <p:bodyStyle>
      <a:lvl1pPr marL="274320" indent="-228600" algn="l" defTabSz="914400" rtl="0" eaLnBrk="1" latinLnBrk="0" hangingPunct="1">
        <a:lnSpc>
          <a:spcPct val="90000"/>
        </a:lnSpc>
        <a:spcBef>
          <a:spcPts val="18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59436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777240" indent="-182880" algn="l" defTabSz="914400" rtl="0" eaLnBrk="1" latinLnBrk="0" hangingPunct="1">
        <a:lnSpc>
          <a:spcPct val="90000"/>
        </a:lnSpc>
        <a:spcBef>
          <a:spcPts val="6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960120" indent="-182880" algn="l" defTabSz="914400" rtl="0" eaLnBrk="1" latinLnBrk="0" hangingPunct="1">
        <a:lnSpc>
          <a:spcPct val="90000"/>
        </a:lnSpc>
        <a:spcBef>
          <a:spcPts val="6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097280" indent="-137160" algn="l" defTabSz="914400" rtl="0" eaLnBrk="1" latinLnBrk="0" hangingPunct="1">
        <a:lnSpc>
          <a:spcPct val="90000"/>
        </a:lnSpc>
        <a:spcBef>
          <a:spcPts val="6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1234440" indent="-13716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1371600" indent="-13716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1508760" indent="-13716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1645920" indent="-13716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39" userDrawn="1">
          <p15:clr>
            <a:srgbClr val="F26B43"/>
          </p15:clr>
        </p15:guide>
        <p15:guide id="2" orient="horz" pos="216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Relationship Id="rId4" Type="http://schemas.microsoft.com/office/2007/relationships/hdphoto" Target="../media/hdphoto1.wdp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Relationship Id="rId4" Type="http://schemas.microsoft.com/office/2007/relationships/hdphoto" Target="../media/hdphoto1.wdp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3.xml"/><Relationship Id="rId4" Type="http://schemas.microsoft.com/office/2007/relationships/hdphoto" Target="../media/hdphoto1.wdp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emf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emf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microsoft.com/office/2007/relationships/hdphoto" Target="../media/hdphoto1.wdp"/></Relationships>
</file>

<file path=ppt/slides/_rels/slide1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773652" y="477505"/>
            <a:ext cx="8280920" cy="1520224"/>
          </a:xfrm>
        </p:spPr>
        <p:txBody>
          <a:bodyPr rtlCol="0">
            <a:normAutofit fontScale="90000"/>
          </a:bodyPr>
          <a:lstStyle/>
          <a:p>
            <a:pPr algn="ctr" rtl="0"/>
            <a:r>
              <a:rPr lang="es-ES" dirty="0">
                <a:solidFill>
                  <a:srgbClr val="100840"/>
                </a:solidFill>
              </a:rPr>
              <a:t>PROYECTO APLICATIVO MOVIL</a:t>
            </a:r>
            <a:br>
              <a:rPr lang="es-ES" dirty="0">
                <a:solidFill>
                  <a:srgbClr val="100840"/>
                </a:solidFill>
              </a:rPr>
            </a:br>
            <a:r>
              <a:rPr lang="es-ES" dirty="0">
                <a:solidFill>
                  <a:srgbClr val="100840"/>
                </a:solidFill>
              </a:rPr>
              <a:t>“HOTELSYS”</a:t>
            </a:r>
          </a:p>
        </p:txBody>
      </p:sp>
      <p:pic>
        <p:nvPicPr>
          <p:cNvPr id="6" name="Picture 1">
            <a:extLst>
              <a:ext uri="{FF2B5EF4-FFF2-40B4-BE49-F238E27FC236}">
                <a16:creationId xmlns:a16="http://schemas.microsoft.com/office/drawing/2014/main" id="{BE4FF43E-3C05-1EA5-4743-9D01F3B18FB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4092" y="2348880"/>
            <a:ext cx="5400040" cy="403161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93259804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2C3E991-351D-4317-5D5E-D91BB4DE42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557" t="3931" r="5870" b="5702"/>
          <a:stretch>
            <a:fillRect/>
          </a:stretch>
        </p:blipFill>
        <p:spPr bwMode="auto">
          <a:xfrm>
            <a:off x="4690256" y="260648"/>
            <a:ext cx="2808312" cy="2188549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361B2556-FA81-D9F7-18CE-8919046B97FD}"/>
              </a:ext>
            </a:extLst>
          </p:cNvPr>
          <p:cNvSpPr txBox="1"/>
          <p:nvPr/>
        </p:nvSpPr>
        <p:spPr>
          <a:xfrm>
            <a:off x="1485900" y="2807051"/>
            <a:ext cx="9217024" cy="3203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28015" marR="627380" indent="-357505">
              <a:lnSpc>
                <a:spcPct val="107000"/>
              </a:lnSpc>
              <a:spcAft>
                <a:spcPts val="800"/>
              </a:spcAft>
              <a:buNone/>
            </a:pPr>
            <a:r>
              <a:rPr lang="pt-PT" sz="2000" b="1" kern="100" dirty="0">
                <a:solidFill>
                  <a:srgbClr val="100840"/>
                </a:solidFill>
                <a:effectLst/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INTEGRANTES</a:t>
            </a:r>
            <a:r>
              <a:rPr lang="pt-PT" sz="2000" b="1" kern="100" dirty="0">
                <a:solidFill>
                  <a:srgbClr val="100840"/>
                </a:solidFill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</a:t>
            </a:r>
            <a:endParaRPr lang="es-419" sz="1400" kern="100" dirty="0">
              <a:solidFill>
                <a:srgbClr val="100840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62738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pt-PT" sz="1800" b="1" kern="100" dirty="0">
                <a:solidFill>
                  <a:srgbClr val="100840"/>
                </a:solidFill>
                <a:effectLst/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ALIAGA PARRAGA LUIS ERICK	</a:t>
            </a:r>
            <a:r>
              <a:rPr lang="es-PE" sz="1800" kern="100" dirty="0">
                <a:solidFill>
                  <a:srgbClr val="10084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		</a:t>
            </a:r>
            <a:r>
              <a:rPr lang="pt-PT" sz="1800" b="1" kern="100" dirty="0">
                <a:solidFill>
                  <a:srgbClr val="10084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</a:t>
            </a:r>
            <a:r>
              <a:rPr lang="pt-PT" sz="1800" b="1" kern="100" spc="-10" dirty="0">
                <a:solidFill>
                  <a:srgbClr val="10084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202403725</a:t>
            </a:r>
            <a:endParaRPr lang="es-419" sz="1400" kern="100" dirty="0">
              <a:solidFill>
                <a:srgbClr val="100840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62738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pt-PT" sz="1800" b="1" kern="100" dirty="0">
                <a:solidFill>
                  <a:srgbClr val="100840"/>
                </a:solidFill>
                <a:effectLst/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CORNEJO PEÑALOZA CARLOS WALTER		I202407144</a:t>
            </a:r>
            <a:endParaRPr lang="es-419" sz="1400" kern="100" dirty="0">
              <a:solidFill>
                <a:srgbClr val="100840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62738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pt-PT" sz="1800" b="1" kern="100" dirty="0">
                <a:solidFill>
                  <a:srgbClr val="100840"/>
                </a:solidFill>
                <a:effectLst/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FLORES GARABUNDO GABRIEL 			I202407363</a:t>
            </a:r>
            <a:endParaRPr lang="es-419" sz="1400" kern="100" dirty="0">
              <a:solidFill>
                <a:srgbClr val="100840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62738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pt-PT" sz="1800" b="1" kern="100" dirty="0">
                <a:solidFill>
                  <a:srgbClr val="100840"/>
                </a:solidFill>
                <a:effectLst/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FLORES REYES PABLO CESAR			I202407970</a:t>
            </a:r>
            <a:endParaRPr lang="es-419" sz="1400" kern="100" dirty="0">
              <a:solidFill>
                <a:srgbClr val="100840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62738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pt-PT" sz="1800" b="1" kern="100" dirty="0">
                <a:solidFill>
                  <a:srgbClr val="100840"/>
                </a:solidFill>
                <a:effectLst/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HERNANDEZ TACAS HECTOR JULIO			I202402541</a:t>
            </a:r>
            <a:endParaRPr lang="es-419" sz="1400" kern="100" dirty="0">
              <a:solidFill>
                <a:srgbClr val="100840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62738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pt-PT" sz="1800" b="1" kern="100" dirty="0">
                <a:solidFill>
                  <a:srgbClr val="100840"/>
                </a:solidFill>
                <a:effectLst/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LOPEZ JUSCAMAYTA JESUS 			I202410080</a:t>
            </a:r>
            <a:endParaRPr lang="es-419" sz="1400" kern="100" dirty="0">
              <a:solidFill>
                <a:srgbClr val="100840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62738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US" sz="1800" b="1" kern="100" dirty="0">
                <a:solidFill>
                  <a:srgbClr val="100840"/>
                </a:solidFill>
                <a:effectLst/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SMITH BUSTAMANTE JEFFREY RICHARD		I202405755</a:t>
            </a:r>
            <a:endParaRPr lang="es-419" sz="1400" kern="100" dirty="0">
              <a:solidFill>
                <a:srgbClr val="100840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72313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7FD6A725-3C96-DF33-9D6F-500ED2B65158}"/>
              </a:ext>
            </a:extLst>
          </p:cNvPr>
          <p:cNvSpPr txBox="1"/>
          <p:nvPr/>
        </p:nvSpPr>
        <p:spPr>
          <a:xfrm>
            <a:off x="405780" y="314814"/>
            <a:ext cx="9937104" cy="62283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07000"/>
              </a:lnSpc>
              <a:spcBef>
                <a:spcPts val="800"/>
              </a:spcBef>
              <a:spcAft>
                <a:spcPts val="400"/>
              </a:spcAft>
            </a:pPr>
            <a:r>
              <a:rPr lang="es-PE" sz="2000" b="1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OBJETIVOS</a:t>
            </a:r>
            <a:endParaRPr lang="es-419" sz="2800" b="1" kern="100" dirty="0">
              <a:solidFill>
                <a:srgbClr val="0F4761"/>
              </a:solidFill>
              <a:effectLst/>
              <a:latin typeface="Aptos Display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s-419" sz="2000" b="1" dirty="0">
                <a:latin typeface="Calibri" panose="020F0502020204030204" pitchFamily="34" charset="0"/>
                <a:cs typeface="Calibri" panose="020F0502020204030204" pitchFamily="34" charset="0"/>
              </a:rPr>
              <a:t>Objetivo 1: Optimizar la gestión operativa de hoteles PYMEs</a:t>
            </a:r>
          </a:p>
          <a:p>
            <a:r>
              <a:rPr lang="es-419" sz="2000" dirty="0">
                <a:latin typeface="Calibri" panose="020F0502020204030204" pitchFamily="34" charset="0"/>
                <a:cs typeface="Calibri" panose="020F0502020204030204" pitchFamily="34" charset="0"/>
              </a:rPr>
              <a:t>Meta principal: Implementar el ecosistema HotelSys App (Móvil + Web) para digitalizar procesos hoteleros.</a:t>
            </a:r>
          </a:p>
          <a:p>
            <a:r>
              <a:rPr lang="es-419" sz="2000" dirty="0">
                <a:latin typeface="Calibri" panose="020F0502020204030204" pitchFamily="34" charset="0"/>
                <a:cs typeface="Calibri" panose="020F0502020204030204" pitchFamily="34" charset="0"/>
              </a:rPr>
              <a:t>Aspectos clave:</a:t>
            </a:r>
          </a:p>
          <a:p>
            <a:pPr lvl="1"/>
            <a:r>
              <a:rPr lang="es-419" sz="2000" dirty="0">
                <a:latin typeface="Calibri" panose="020F0502020204030204" pitchFamily="34" charset="0"/>
                <a:cs typeface="Calibri" panose="020F0502020204030204" pitchFamily="34" charset="0"/>
              </a:rPr>
              <a:t>Tecnología: Android (Kotlin) + Spring Boot + Angular + Firebase + SQLite.</a:t>
            </a:r>
          </a:p>
          <a:p>
            <a:pPr lvl="1"/>
            <a:r>
              <a:rPr lang="es-419" sz="2000" dirty="0">
                <a:latin typeface="Calibri" panose="020F0502020204030204" pitchFamily="34" charset="0"/>
                <a:cs typeface="Calibri" panose="020F0502020204030204" pitchFamily="34" charset="0"/>
              </a:rPr>
              <a:t>Integración: Conexión segura con </a:t>
            </a:r>
            <a:r>
              <a:rPr lang="es-419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APIs</a:t>
            </a:r>
            <a:r>
              <a:rPr lang="es-419" sz="2000" dirty="0">
                <a:latin typeface="Calibri" panose="020F0502020204030204" pitchFamily="34" charset="0"/>
                <a:cs typeface="Calibri" panose="020F0502020204030204" pitchFamily="34" charset="0"/>
              </a:rPr>
              <a:t> REST (probadas con Postman).</a:t>
            </a:r>
          </a:p>
          <a:p>
            <a:pPr lvl="1"/>
            <a:r>
              <a:rPr lang="es-419" sz="2000" dirty="0">
                <a:latin typeface="Calibri" panose="020F0502020204030204" pitchFamily="34" charset="0"/>
                <a:cs typeface="Calibri" panose="020F0502020204030204" pitchFamily="34" charset="0"/>
              </a:rPr>
              <a:t>Meta medible: 70% de procesos operativos gestionados digitalmente en 6 meses.</a:t>
            </a:r>
          </a:p>
          <a:p>
            <a:pPr lvl="1"/>
            <a:r>
              <a:rPr lang="es-419" sz="2000" dirty="0">
                <a:latin typeface="Calibri" panose="020F0502020204030204" pitchFamily="34" charset="0"/>
                <a:cs typeface="Calibri" panose="020F0502020204030204" pitchFamily="34" charset="0"/>
              </a:rPr>
              <a:t>Relevancia: Reduce uso de registros manuales y dependencia de plataformas externas.</a:t>
            </a:r>
          </a:p>
          <a:p>
            <a:pPr lvl="1"/>
            <a:r>
              <a:rPr lang="es-419" sz="2000" dirty="0">
                <a:latin typeface="Calibri" panose="020F0502020204030204" pitchFamily="34" charset="0"/>
                <a:cs typeface="Calibri" panose="020F0502020204030204" pitchFamily="34" charset="0"/>
              </a:rPr>
              <a:t>Plazo: Hasta abril de 2026 (6 meses post lanzamiento).</a:t>
            </a:r>
            <a:br>
              <a:rPr lang="es-419" sz="16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</a:br>
            <a:endParaRPr lang="es-419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Calibri" panose="020F0502020204030204" pitchFamily="34" charset="0"/>
            </a:endParaRPr>
          </a:p>
          <a:p>
            <a:r>
              <a:rPr lang="es-419" sz="2000" b="1" dirty="0">
                <a:latin typeface="Calibri" panose="020F0502020204030204" pitchFamily="34" charset="0"/>
                <a:cs typeface="Calibri" panose="020F0502020204030204" pitchFamily="34" charset="0"/>
              </a:rPr>
              <a:t>Objetivo 2: Incrementar satisfacción y retención de huéspedes</a:t>
            </a:r>
          </a:p>
          <a:p>
            <a:r>
              <a:rPr lang="es-419" sz="2000" dirty="0">
                <a:latin typeface="Calibri" panose="020F0502020204030204" pitchFamily="34" charset="0"/>
                <a:cs typeface="Calibri" panose="020F0502020204030204" pitchFamily="34" charset="0"/>
              </a:rPr>
              <a:t>Meta principal: Ofrecer una experiencia móvil intuitiva, rápida y personalizada.</a:t>
            </a:r>
          </a:p>
          <a:p>
            <a:r>
              <a:rPr lang="es-419" sz="2000" dirty="0">
                <a:latin typeface="Calibri" panose="020F0502020204030204" pitchFamily="34" charset="0"/>
                <a:cs typeface="Calibri" panose="020F0502020204030204" pitchFamily="34" charset="0"/>
              </a:rPr>
              <a:t>Aspectos clave:</a:t>
            </a:r>
          </a:p>
          <a:p>
            <a:pPr lvl="1"/>
            <a:r>
              <a:rPr lang="es-419" sz="2000" dirty="0">
                <a:latin typeface="Calibri" panose="020F0502020204030204" pitchFamily="34" charset="0"/>
                <a:cs typeface="Calibri" panose="020F0502020204030204" pitchFamily="34" charset="0"/>
              </a:rPr>
              <a:t>Diseño: Basado en Material </a:t>
            </a:r>
            <a:r>
              <a:rPr lang="es-419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Design</a:t>
            </a:r>
            <a:r>
              <a:rPr lang="es-419" sz="2000" dirty="0">
                <a:latin typeface="Calibri" panose="020F0502020204030204" pitchFamily="34" charset="0"/>
                <a:cs typeface="Calibri" panose="020F0502020204030204" pitchFamily="34" charset="0"/>
              </a:rPr>
              <a:t>, con funciones de reserva, reseñas y perfil.</a:t>
            </a:r>
          </a:p>
          <a:p>
            <a:pPr lvl="1"/>
            <a:r>
              <a:rPr lang="es-419" sz="2000" dirty="0">
                <a:latin typeface="Calibri" panose="020F0502020204030204" pitchFamily="34" charset="0"/>
                <a:cs typeface="Calibri" panose="020F0502020204030204" pitchFamily="34" charset="0"/>
              </a:rPr>
              <a:t>Evaluación: Lograr 4.2/5 estrellas de satisfacción y 70% de retención en 3 meses.</a:t>
            </a:r>
          </a:p>
          <a:p>
            <a:pPr lvl="1"/>
            <a:r>
              <a:rPr lang="es-419" sz="2000" dirty="0">
                <a:latin typeface="Calibri" panose="020F0502020204030204" pitchFamily="34" charset="0"/>
                <a:cs typeface="Calibri" panose="020F0502020204030204" pitchFamily="34" charset="0"/>
              </a:rPr>
              <a:t>Metodología: Pruebas de usabilidad + mejoras iterativas con retroalimentación.</a:t>
            </a:r>
          </a:p>
          <a:p>
            <a:pPr lvl="1"/>
            <a:r>
              <a:rPr lang="es-419" sz="2000" dirty="0">
                <a:latin typeface="Calibri" panose="020F0502020204030204" pitchFamily="34" charset="0"/>
                <a:cs typeface="Calibri" panose="020F0502020204030204" pitchFamily="34" charset="0"/>
              </a:rPr>
              <a:t>Relevancia: Mejora la fidelización, reputación y posicionamiento de HotelSys.</a:t>
            </a:r>
          </a:p>
          <a:p>
            <a:pPr lvl="1"/>
            <a:r>
              <a:rPr lang="es-419" sz="2000" dirty="0">
                <a:latin typeface="Calibri" panose="020F0502020204030204" pitchFamily="34" charset="0"/>
                <a:cs typeface="Calibri" panose="020F0502020204030204" pitchFamily="34" charset="0"/>
              </a:rPr>
              <a:t>Plazo: Enero–marzo 2026 (90 días tras publicación en Google Play).</a:t>
            </a:r>
          </a:p>
          <a:p>
            <a:pPr marL="342900" lvl="0" indent="-342900" algn="just">
              <a:buFont typeface="Symbol" panose="05050102010706020507" pitchFamily="18" charset="2"/>
              <a:buChar char=""/>
            </a:pPr>
            <a:endParaRPr lang="es-419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6" name="Picture 1">
            <a:extLst>
              <a:ext uri="{FF2B5EF4-FFF2-40B4-BE49-F238E27FC236}">
                <a16:creationId xmlns:a16="http://schemas.microsoft.com/office/drawing/2014/main" id="{EBCF6123-E82E-9772-4307-3957E2D282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557" t="3931" r="5870" b="5702"/>
          <a:stretch>
            <a:fillRect/>
          </a:stretch>
        </p:blipFill>
        <p:spPr bwMode="auto">
          <a:xfrm>
            <a:off x="10630916" y="1934"/>
            <a:ext cx="1404156" cy="10942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530273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CF198AD1-236B-DFB1-2D9D-39CEBAE2807E}"/>
              </a:ext>
            </a:extLst>
          </p:cNvPr>
          <p:cNvSpPr txBox="1">
            <a:spLocks/>
          </p:cNvSpPr>
          <p:nvPr/>
        </p:nvSpPr>
        <p:spPr>
          <a:xfrm>
            <a:off x="1053852" y="692696"/>
            <a:ext cx="9217024" cy="316835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3600" b="1" kern="120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4800" dirty="0">
                <a:solidFill>
                  <a:srgbClr val="100840"/>
                </a:solidFill>
              </a:rPr>
              <a:t>PROYECTO APLICATIVO HOTELSYS – AVANCE 1</a:t>
            </a:r>
          </a:p>
        </p:txBody>
      </p:sp>
      <p:pic>
        <p:nvPicPr>
          <p:cNvPr id="5" name="Picture 1">
            <a:extLst>
              <a:ext uri="{FF2B5EF4-FFF2-40B4-BE49-F238E27FC236}">
                <a16:creationId xmlns:a16="http://schemas.microsoft.com/office/drawing/2014/main" id="{FF168CEA-E548-3675-D3BE-0E9FFC8EDE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557" t="3931" r="5870" b="5702"/>
          <a:stretch>
            <a:fillRect/>
          </a:stretch>
        </p:blipFill>
        <p:spPr bwMode="auto">
          <a:xfrm>
            <a:off x="10630916" y="1934"/>
            <a:ext cx="1404156" cy="10942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21568459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BC96FEC-86FF-CFE8-BAC0-FC5BCB59E6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419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89792095-1BEB-95AE-102B-BE45477238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566" y="1196751"/>
            <a:ext cx="11779494" cy="5497749"/>
          </a:xfrm>
          <a:prstGeom prst="rect">
            <a:avLst/>
          </a:prstGeom>
        </p:spPr>
      </p:pic>
      <p:pic>
        <p:nvPicPr>
          <p:cNvPr id="6" name="Picture 1">
            <a:extLst>
              <a:ext uri="{FF2B5EF4-FFF2-40B4-BE49-F238E27FC236}">
                <a16:creationId xmlns:a16="http://schemas.microsoft.com/office/drawing/2014/main" id="{026DBF81-E2D0-2EE8-87AB-4625480048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557" t="3931" r="5870" b="5702"/>
          <a:stretch>
            <a:fillRect/>
          </a:stretch>
        </p:blipFill>
        <p:spPr bwMode="auto">
          <a:xfrm>
            <a:off x="10630916" y="1934"/>
            <a:ext cx="1404156" cy="109427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F4F19D38-5349-72DA-6452-7DF272BA79B3}"/>
              </a:ext>
            </a:extLst>
          </p:cNvPr>
          <p:cNvSpPr txBox="1"/>
          <p:nvPr/>
        </p:nvSpPr>
        <p:spPr>
          <a:xfrm>
            <a:off x="348302" y="374193"/>
            <a:ext cx="848241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4000" b="1" dirty="0">
                <a:solidFill>
                  <a:srgbClr val="100840"/>
                </a:solidFill>
              </a:rPr>
              <a:t>MODELO ENTIDAD RELACION - MER</a:t>
            </a:r>
          </a:p>
        </p:txBody>
      </p:sp>
    </p:spTree>
    <p:extLst>
      <p:ext uri="{BB962C8B-B14F-4D97-AF65-F5344CB8AC3E}">
        <p14:creationId xmlns:p14="http://schemas.microsoft.com/office/powerpoint/2010/main" val="32002792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2835FD43-4F52-8C1E-DC97-0BAF1EFC96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764" y="679715"/>
            <a:ext cx="10081120" cy="6117652"/>
          </a:xfrm>
          <a:prstGeom prst="rect">
            <a:avLst/>
          </a:prstGeom>
        </p:spPr>
      </p:pic>
      <p:pic>
        <p:nvPicPr>
          <p:cNvPr id="6" name="Picture 1">
            <a:extLst>
              <a:ext uri="{FF2B5EF4-FFF2-40B4-BE49-F238E27FC236}">
                <a16:creationId xmlns:a16="http://schemas.microsoft.com/office/drawing/2014/main" id="{158C2D7F-2DCF-AA53-A89E-AA6DDC84F0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557" t="3931" r="5870" b="5702"/>
          <a:stretch>
            <a:fillRect/>
          </a:stretch>
        </p:blipFill>
        <p:spPr bwMode="auto">
          <a:xfrm>
            <a:off x="10630916" y="1934"/>
            <a:ext cx="1404156" cy="109427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11576B77-AC26-2801-F673-7FA27F59FA00}"/>
              </a:ext>
            </a:extLst>
          </p:cNvPr>
          <p:cNvSpPr txBox="1"/>
          <p:nvPr/>
        </p:nvSpPr>
        <p:spPr>
          <a:xfrm>
            <a:off x="259520" y="0"/>
            <a:ext cx="784887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4000" b="1" dirty="0">
                <a:solidFill>
                  <a:srgbClr val="100840"/>
                </a:solidFill>
              </a:rPr>
              <a:t>BASE DE DATOS:</a:t>
            </a:r>
          </a:p>
        </p:txBody>
      </p:sp>
    </p:spTree>
    <p:extLst>
      <p:ext uri="{BB962C8B-B14F-4D97-AF65-F5344CB8AC3E}">
        <p14:creationId xmlns:p14="http://schemas.microsoft.com/office/powerpoint/2010/main" val="2131616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00999D45-E2E6-37AE-719E-7A204855D0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890" y="2348880"/>
            <a:ext cx="11783044" cy="3723305"/>
          </a:xfrm>
          <a:prstGeom prst="rect">
            <a:avLst/>
          </a:prstGeom>
        </p:spPr>
      </p:pic>
      <p:pic>
        <p:nvPicPr>
          <p:cNvPr id="4" name="Picture 1">
            <a:extLst>
              <a:ext uri="{FF2B5EF4-FFF2-40B4-BE49-F238E27FC236}">
                <a16:creationId xmlns:a16="http://schemas.microsoft.com/office/drawing/2014/main" id="{4DC25A9C-48B5-DFDD-C003-76E2F4B7FD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557" t="3931" r="5870" b="5702"/>
          <a:stretch>
            <a:fillRect/>
          </a:stretch>
        </p:blipFill>
        <p:spPr bwMode="auto">
          <a:xfrm>
            <a:off x="10630916" y="1934"/>
            <a:ext cx="1404156" cy="1094275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1FFF3675-73A9-0B95-F27C-21B987420B99}"/>
              </a:ext>
            </a:extLst>
          </p:cNvPr>
          <p:cNvSpPr txBox="1"/>
          <p:nvPr/>
        </p:nvSpPr>
        <p:spPr>
          <a:xfrm>
            <a:off x="333772" y="1126792"/>
            <a:ext cx="784887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4000" b="1" dirty="0">
                <a:solidFill>
                  <a:srgbClr val="100840"/>
                </a:solidFill>
              </a:rPr>
              <a:t>FIREBASE - LOGIN</a:t>
            </a:r>
          </a:p>
        </p:txBody>
      </p:sp>
    </p:spTree>
    <p:extLst>
      <p:ext uri="{BB962C8B-B14F-4D97-AF65-F5344CB8AC3E}">
        <p14:creationId xmlns:p14="http://schemas.microsoft.com/office/powerpoint/2010/main" val="16680910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F8D34441-9599-2ADF-E42D-75DA51E67A31}"/>
              </a:ext>
            </a:extLst>
          </p:cNvPr>
          <p:cNvSpPr txBox="1">
            <a:spLocks/>
          </p:cNvSpPr>
          <p:nvPr/>
        </p:nvSpPr>
        <p:spPr>
          <a:xfrm>
            <a:off x="765820" y="223516"/>
            <a:ext cx="9217024" cy="64807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3600" b="1" kern="120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3200" dirty="0">
                <a:solidFill>
                  <a:srgbClr val="100840"/>
                </a:solidFill>
              </a:rPr>
              <a:t>CASOS UNICO DE NEGOCIO (CUN)</a:t>
            </a:r>
          </a:p>
        </p:txBody>
      </p:sp>
      <p:pic>
        <p:nvPicPr>
          <p:cNvPr id="7" name="Picture 1">
            <a:extLst>
              <a:ext uri="{FF2B5EF4-FFF2-40B4-BE49-F238E27FC236}">
                <a16:creationId xmlns:a16="http://schemas.microsoft.com/office/drawing/2014/main" id="{C47C919D-91B5-F2B6-D388-40712C3B7B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557" t="3931" r="5870" b="5702"/>
          <a:stretch>
            <a:fillRect/>
          </a:stretch>
        </p:blipFill>
        <p:spPr bwMode="auto">
          <a:xfrm>
            <a:off x="10630916" y="1934"/>
            <a:ext cx="1404156" cy="109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324096D2-D8DA-7AAE-87C7-79E0E389C2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828" y="904125"/>
            <a:ext cx="9495052" cy="5797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6856105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1">
            <a:extLst>
              <a:ext uri="{FF2B5EF4-FFF2-40B4-BE49-F238E27FC236}">
                <a16:creationId xmlns:a16="http://schemas.microsoft.com/office/drawing/2014/main" id="{4C7E0181-48BC-60E1-10A9-7A85ECD1C625}"/>
              </a:ext>
            </a:extLst>
          </p:cNvPr>
          <p:cNvSpPr txBox="1">
            <a:spLocks/>
          </p:cNvSpPr>
          <p:nvPr/>
        </p:nvSpPr>
        <p:spPr>
          <a:xfrm>
            <a:off x="978221" y="570890"/>
            <a:ext cx="8640960" cy="139668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3600" b="1" kern="120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4800" dirty="0">
                <a:solidFill>
                  <a:srgbClr val="100840"/>
                </a:solidFill>
              </a:rPr>
              <a:t>ELABORACION DEL PROYECTO CON METODOLOGIA - SCRUM</a:t>
            </a:r>
          </a:p>
        </p:txBody>
      </p:sp>
      <p:pic>
        <p:nvPicPr>
          <p:cNvPr id="6" name="Picture 1">
            <a:extLst>
              <a:ext uri="{FF2B5EF4-FFF2-40B4-BE49-F238E27FC236}">
                <a16:creationId xmlns:a16="http://schemas.microsoft.com/office/drawing/2014/main" id="{C9C1A9C0-D9B4-C4E3-27D0-23673287D8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557" t="3931" r="5870" b="5702"/>
          <a:stretch>
            <a:fillRect/>
          </a:stretch>
        </p:blipFill>
        <p:spPr bwMode="auto">
          <a:xfrm>
            <a:off x="10630916" y="1934"/>
            <a:ext cx="1404156" cy="1094275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ítulo 1">
            <a:extLst>
              <a:ext uri="{FF2B5EF4-FFF2-40B4-BE49-F238E27FC236}">
                <a16:creationId xmlns:a16="http://schemas.microsoft.com/office/drawing/2014/main" id="{B98CC642-8ACB-3357-61D4-B6B6EBFC6EFC}"/>
              </a:ext>
            </a:extLst>
          </p:cNvPr>
          <p:cNvSpPr txBox="1">
            <a:spLocks/>
          </p:cNvSpPr>
          <p:nvPr/>
        </p:nvSpPr>
        <p:spPr>
          <a:xfrm>
            <a:off x="978220" y="3284984"/>
            <a:ext cx="8640959" cy="86409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7500" lnSpcReduction="20000"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3600" b="1" kern="120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dirty="0">
                <a:solidFill>
                  <a:srgbClr val="100840"/>
                </a:solidFill>
              </a:rPr>
              <a:t>PRODUCT BACKLOG – HOTELSYS APLICATIVO MÓVIL Y WEB</a:t>
            </a:r>
            <a:r>
              <a:rPr lang="es-ES" sz="4800" dirty="0">
                <a:solidFill>
                  <a:srgbClr val="100840"/>
                </a:solidFill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2663023764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5900AF89-1456-AD8B-0C04-C17042F3B1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764" y="0"/>
            <a:ext cx="10153128" cy="6858000"/>
          </a:xfrm>
          <a:prstGeom prst="rect">
            <a:avLst/>
          </a:prstGeom>
          <a:ln>
            <a:solidFill>
              <a:srgbClr val="100840"/>
            </a:solidFill>
          </a:ln>
        </p:spPr>
      </p:pic>
      <p:pic>
        <p:nvPicPr>
          <p:cNvPr id="6" name="Picture 1">
            <a:extLst>
              <a:ext uri="{FF2B5EF4-FFF2-40B4-BE49-F238E27FC236}">
                <a16:creationId xmlns:a16="http://schemas.microsoft.com/office/drawing/2014/main" id="{97F6F3B0-11FD-33E7-68B6-851B57E42AB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557" t="3931" r="5870" b="5702"/>
          <a:stretch>
            <a:fillRect/>
          </a:stretch>
        </p:blipFill>
        <p:spPr bwMode="auto">
          <a:xfrm>
            <a:off x="10630916" y="1934"/>
            <a:ext cx="1404156" cy="10942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90981811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643F058A-5DB4-24AA-8C92-99785BC2255E}"/>
              </a:ext>
            </a:extLst>
          </p:cNvPr>
          <p:cNvSpPr txBox="1"/>
          <p:nvPr/>
        </p:nvSpPr>
        <p:spPr>
          <a:xfrm>
            <a:off x="1053852" y="2636912"/>
            <a:ext cx="7848872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4000" b="1" dirty="0">
                <a:solidFill>
                  <a:srgbClr val="100840"/>
                </a:solidFill>
              </a:rPr>
              <a:t>SPRINTS – HOTELSYS APLICATIVO MÓVIL Y WEB:</a:t>
            </a:r>
          </a:p>
        </p:txBody>
      </p:sp>
      <p:pic>
        <p:nvPicPr>
          <p:cNvPr id="6" name="Picture 1">
            <a:extLst>
              <a:ext uri="{FF2B5EF4-FFF2-40B4-BE49-F238E27FC236}">
                <a16:creationId xmlns:a16="http://schemas.microsoft.com/office/drawing/2014/main" id="{4CDC4900-15F1-F6FF-3CA4-03A3E924B3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557" t="3931" r="5870" b="5702"/>
          <a:stretch>
            <a:fillRect/>
          </a:stretch>
        </p:blipFill>
        <p:spPr bwMode="auto">
          <a:xfrm>
            <a:off x="10630916" y="1934"/>
            <a:ext cx="1404156" cy="10942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11174045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1">
            <a:extLst>
              <a:ext uri="{FF2B5EF4-FFF2-40B4-BE49-F238E27FC236}">
                <a16:creationId xmlns:a16="http://schemas.microsoft.com/office/drawing/2014/main" id="{B9459382-123E-FBF0-D0CA-661BE84743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557" t="3931" r="5870" b="5702"/>
          <a:stretch>
            <a:fillRect/>
          </a:stretch>
        </p:blipFill>
        <p:spPr bwMode="auto">
          <a:xfrm>
            <a:off x="10630916" y="1934"/>
            <a:ext cx="1404156" cy="109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285DD3DE-57DA-9108-E2B4-C94CC71D59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3753" y="188640"/>
            <a:ext cx="10393300" cy="6552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6991031"/>
      </p:ext>
    </p:extLst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C808F0F5-01FB-55E2-F980-0BEE483A453F}"/>
              </a:ext>
            </a:extLst>
          </p:cNvPr>
          <p:cNvSpPr txBox="1"/>
          <p:nvPr/>
        </p:nvSpPr>
        <p:spPr>
          <a:xfrm>
            <a:off x="693812" y="260648"/>
            <a:ext cx="8928992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4000" b="1" dirty="0">
                <a:solidFill>
                  <a:srgbClr val="100840"/>
                </a:solidFill>
              </a:rPr>
              <a:t>PROTOTIPADO DEL APP MOVIL:</a:t>
            </a:r>
          </a:p>
          <a:p>
            <a:endParaRPr lang="es-ES" sz="4000" b="1" dirty="0">
              <a:solidFill>
                <a:srgbClr val="100840"/>
              </a:solidFill>
            </a:endParaRPr>
          </a:p>
        </p:txBody>
      </p:sp>
      <p:pic>
        <p:nvPicPr>
          <p:cNvPr id="5" name="Picture 1">
            <a:extLst>
              <a:ext uri="{FF2B5EF4-FFF2-40B4-BE49-F238E27FC236}">
                <a16:creationId xmlns:a16="http://schemas.microsoft.com/office/drawing/2014/main" id="{E3BE2A0C-5B1C-51E8-9ACF-49BB6E6DBF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557" t="3931" r="5870" b="5702"/>
          <a:stretch>
            <a:fillRect/>
          </a:stretch>
        </p:blipFill>
        <p:spPr bwMode="auto">
          <a:xfrm>
            <a:off x="10630916" y="1934"/>
            <a:ext cx="1404156" cy="109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21E3F2E1-BE75-2B5D-72EA-5AE9ED1A93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7828" y="996652"/>
            <a:ext cx="3819525" cy="5600700"/>
          </a:xfrm>
          <a:prstGeom prst="rect">
            <a:avLst/>
          </a:prstGeom>
          <a:ln>
            <a:solidFill>
              <a:srgbClr val="002060"/>
            </a:solidFill>
          </a:ln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A859A7E4-B35A-20CB-BC5B-030E6279EE4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08630" y="996652"/>
            <a:ext cx="3845686" cy="5600700"/>
          </a:xfrm>
          <a:prstGeom prst="rect">
            <a:avLst/>
          </a:prstGeom>
          <a:ln>
            <a:solidFill>
              <a:srgbClr val="002060"/>
            </a:solidFill>
          </a:ln>
        </p:spPr>
      </p:pic>
    </p:spTree>
    <p:extLst>
      <p:ext uri="{BB962C8B-B14F-4D97-AF65-F5344CB8AC3E}">
        <p14:creationId xmlns:p14="http://schemas.microsoft.com/office/powerpoint/2010/main" val="4695783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21BAE46F-9B43-AC2D-4B5C-86A3B90078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5750" y="620688"/>
            <a:ext cx="3957251" cy="5832257"/>
          </a:xfrm>
          <a:prstGeom prst="rect">
            <a:avLst/>
          </a:prstGeom>
          <a:ln>
            <a:solidFill>
              <a:srgbClr val="002060"/>
            </a:solidFill>
          </a:ln>
        </p:spPr>
      </p:pic>
      <p:pic>
        <p:nvPicPr>
          <p:cNvPr id="4" name="Picture 1">
            <a:extLst>
              <a:ext uri="{FF2B5EF4-FFF2-40B4-BE49-F238E27FC236}">
                <a16:creationId xmlns:a16="http://schemas.microsoft.com/office/drawing/2014/main" id="{A7169AFC-DD43-B99B-1EEF-B188CA8D055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557" t="3931" r="5870" b="5702"/>
          <a:stretch>
            <a:fillRect/>
          </a:stretch>
        </p:blipFill>
        <p:spPr bwMode="auto">
          <a:xfrm>
            <a:off x="10630916" y="1934"/>
            <a:ext cx="1404156" cy="109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D2868EB0-D9B5-C484-1233-7B58EBBAACA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78388" y="637356"/>
            <a:ext cx="3961157" cy="5832256"/>
          </a:xfrm>
          <a:prstGeom prst="rect">
            <a:avLst/>
          </a:prstGeom>
          <a:ln>
            <a:solidFill>
              <a:srgbClr val="002060"/>
            </a:solidFill>
          </a:ln>
        </p:spPr>
      </p:pic>
    </p:spTree>
    <p:extLst>
      <p:ext uri="{BB962C8B-B14F-4D97-AF65-F5344CB8AC3E}">
        <p14:creationId xmlns:p14="http://schemas.microsoft.com/office/powerpoint/2010/main" val="69080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7E4B5AF2-A279-26AF-D370-0EB43BD04DF9}"/>
              </a:ext>
            </a:extLst>
          </p:cNvPr>
          <p:cNvSpPr txBox="1"/>
          <p:nvPr/>
        </p:nvSpPr>
        <p:spPr>
          <a:xfrm>
            <a:off x="837828" y="2348880"/>
            <a:ext cx="784887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4000" b="1" dirty="0">
                <a:solidFill>
                  <a:srgbClr val="100840"/>
                </a:solidFill>
              </a:rPr>
              <a:t>MUESTRA DE POSTMAN - APIS</a:t>
            </a:r>
          </a:p>
        </p:txBody>
      </p:sp>
      <p:pic>
        <p:nvPicPr>
          <p:cNvPr id="5" name="Picture 1">
            <a:extLst>
              <a:ext uri="{FF2B5EF4-FFF2-40B4-BE49-F238E27FC236}">
                <a16:creationId xmlns:a16="http://schemas.microsoft.com/office/drawing/2014/main" id="{4E24FBFB-FE9E-F80C-7164-36A414F4C1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557" t="3931" r="5870" b="5702"/>
          <a:stretch>
            <a:fillRect/>
          </a:stretch>
        </p:blipFill>
        <p:spPr bwMode="auto">
          <a:xfrm>
            <a:off x="10630916" y="1934"/>
            <a:ext cx="1404156" cy="10942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118762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Empresarial Contraste 16x9">
  <a:themeElements>
    <a:clrScheme name="BusinessContrast">
      <a:dk1>
        <a:srgbClr val="000000"/>
      </a:dk1>
      <a:lt1>
        <a:sysClr val="window" lastClr="FFFFFF"/>
      </a:lt1>
      <a:dk2>
        <a:srgbClr val="000000"/>
      </a:dk2>
      <a:lt2>
        <a:srgbClr val="E5E8E8"/>
      </a:lt2>
      <a:accent1>
        <a:srgbClr val="00AEEF"/>
      </a:accent1>
      <a:accent2>
        <a:srgbClr val="EA428A"/>
      </a:accent2>
      <a:accent3>
        <a:srgbClr val="EED500"/>
      </a:accent3>
      <a:accent4>
        <a:srgbClr val="F5A70D"/>
      </a:accent4>
      <a:accent5>
        <a:srgbClr val="8BCB30"/>
      </a:accent5>
      <a:accent6>
        <a:srgbClr val="9962C1"/>
      </a:accent6>
      <a:hlink>
        <a:srgbClr val="00AEEF"/>
      </a:hlink>
      <a:folHlink>
        <a:srgbClr val="9962C1"/>
      </a:folHlink>
    </a:clrScheme>
    <a:fontScheme name="Franklin Gothic Medium">
      <a:maj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15870690_TF02895266.potx" id="{662AE8D8-24CF-4300-88CA-77AD0B4045E0}" vid="{53658028-3D1B-4AA4-8E7B-3BB150406BCD}"/>
    </a:ext>
  </a:extLst>
</a:theme>
</file>

<file path=ppt/theme/theme2.xml><?xml version="1.0" encoding="utf-8"?>
<a:theme xmlns:a="http://schemas.openxmlformats.org/drawingml/2006/main" name="Tema de Office">
  <a:themeElements>
    <a:clrScheme name="BusinessContrast">
      <a:dk1>
        <a:srgbClr val="000000"/>
      </a:dk1>
      <a:lt1>
        <a:sysClr val="window" lastClr="FFFFFF"/>
      </a:lt1>
      <a:dk2>
        <a:srgbClr val="000000"/>
      </a:dk2>
      <a:lt2>
        <a:srgbClr val="E5E8E8"/>
      </a:lt2>
      <a:accent1>
        <a:srgbClr val="00AEEF"/>
      </a:accent1>
      <a:accent2>
        <a:srgbClr val="EA428A"/>
      </a:accent2>
      <a:accent3>
        <a:srgbClr val="EED500"/>
      </a:accent3>
      <a:accent4>
        <a:srgbClr val="F5A70D"/>
      </a:accent4>
      <a:accent5>
        <a:srgbClr val="8BCB30"/>
      </a:accent5>
      <a:accent6>
        <a:srgbClr val="9962C1"/>
      </a:accent6>
      <a:hlink>
        <a:srgbClr val="00AEEF"/>
      </a:hlink>
      <a:folHlink>
        <a:srgbClr val="9962C1"/>
      </a:folHlink>
    </a:clrScheme>
    <a:fontScheme name="Franklin Gothic Medium">
      <a:maj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e Office">
  <a:themeElements>
    <a:clrScheme name="BusinessContrast">
      <a:dk1>
        <a:srgbClr val="000000"/>
      </a:dk1>
      <a:lt1>
        <a:sysClr val="window" lastClr="FFFFFF"/>
      </a:lt1>
      <a:dk2>
        <a:srgbClr val="000000"/>
      </a:dk2>
      <a:lt2>
        <a:srgbClr val="E5E8E8"/>
      </a:lt2>
      <a:accent1>
        <a:srgbClr val="00AEEF"/>
      </a:accent1>
      <a:accent2>
        <a:srgbClr val="EA428A"/>
      </a:accent2>
      <a:accent3>
        <a:srgbClr val="EED500"/>
      </a:accent3>
      <a:accent4>
        <a:srgbClr val="F5A70D"/>
      </a:accent4>
      <a:accent5>
        <a:srgbClr val="8BCB30"/>
      </a:accent5>
      <a:accent6>
        <a:srgbClr val="9962C1"/>
      </a:accent6>
      <a:hlink>
        <a:srgbClr val="00AEEF"/>
      </a:hlink>
      <a:folHlink>
        <a:srgbClr val="9962C1"/>
      </a:folHlink>
    </a:clrScheme>
    <a:fontScheme name="Franklin Gothic Medium">
      <a:maj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A3F7D94069FF64A86F7DFF56D60E3BE" ma:contentTypeVersion="6" ma:contentTypeDescription="Create a new document." ma:contentTypeScope="" ma:versionID="c32302c77d4085ecf495bdddb7f5e889">
  <xsd:schema xmlns:xsd="http://www.w3.org/2001/XMLSchema" xmlns:xs="http://www.w3.org/2001/XMLSchema" xmlns:p="http://schemas.microsoft.com/office/2006/metadata/properties" xmlns:ns2="a4f35948-e619-41b3-aa29-22878b09cfd2" xmlns:ns3="40262f94-9f35-4ac3-9a90-690165a166b7" targetNamespace="http://schemas.microsoft.com/office/2006/metadata/properties" ma:root="true" ma:fieldsID="4ab5ae46be95f9d0be6107e8200be7a2" ns2:_="" ns3:_="">
    <xsd:import namespace="a4f35948-e619-41b3-aa29-22878b09cfd2"/>
    <xsd:import namespace="40262f94-9f35-4ac3-9a90-690165a166b7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VSO_x0020_item_x0020_id" minOccurs="0"/>
                <xsd:element ref="ns3:Item_x0020_Details" minOccurs="0"/>
                <xsd:element ref="ns3:Template_x0020_details" minOccurs="0"/>
                <xsd:element ref="ns3:Assetid_x0020_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4f35948-e619-41b3-aa29-22878b09cfd2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0262f94-9f35-4ac3-9a90-690165a166b7" elementFormDefault="qualified">
    <xsd:import namespace="http://schemas.microsoft.com/office/2006/documentManagement/types"/>
    <xsd:import namespace="http://schemas.microsoft.com/office/infopath/2007/PartnerControls"/>
    <xsd:element name="VSO_x0020_item_x0020_id" ma:index="10" nillable="true" ma:displayName="VSO item id" ma:description="Please add the bug number to refer to VSO items." ma:internalName="VSO_x0020_item_x0020_id">
      <xsd:simpleType>
        <xsd:restriction base="dms:Text">
          <xsd:maxLength value="255"/>
        </xsd:restriction>
      </xsd:simpleType>
    </xsd:element>
    <xsd:element name="Item_x0020_Details" ma:index="11" nillable="true" ma:displayName="Item Details" ma:internalName="Item_x0020_Details">
      <xsd:simpleType>
        <xsd:restriction base="dms:Note">
          <xsd:maxLength value="255"/>
        </xsd:restriction>
      </xsd:simpleType>
    </xsd:element>
    <xsd:element name="Template_x0020_details" ma:index="12" nillable="true" ma:displayName="Template details" ma:internalName="Template_x0020_details">
      <xsd:simpleType>
        <xsd:restriction base="dms:Text"/>
      </xsd:simpleType>
    </xsd:element>
    <xsd:element name="Assetid_x0020_" ma:index="13" nillable="true" ma:displayName="Assetid " ma:internalName="Assetid_x0020_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VSO_x0020_item_x0020_id xmlns="40262f94-9f35-4ac3-9a90-690165a166b7" xsi:nil="true"/>
    <Assetid_x0020_ xmlns="40262f94-9f35-4ac3-9a90-690165a166b7" xsi:nil="true"/>
    <Item_x0020_Details xmlns="40262f94-9f35-4ac3-9a90-690165a166b7" xsi:nil="true"/>
    <Template_x0020_details xmlns="40262f94-9f35-4ac3-9a90-690165a166b7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C80FAF7-F941-4D3E-A3C3-283A6110793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4f35948-e619-41b3-aa29-22878b09cfd2"/>
    <ds:schemaRef ds:uri="40262f94-9f35-4ac3-9a90-690165a166b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99220E13-D325-4A9E-AA7A-0D1409275EB9}">
  <ds:schemaRefs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purl.org/dc/dcmitype/"/>
    <ds:schemaRef ds:uri="http://schemas.microsoft.com/office/infopath/2007/PartnerControls"/>
    <ds:schemaRef ds:uri="http://purl.org/dc/elements/1.1/"/>
    <ds:schemaRef ds:uri="http://schemas.microsoft.com/office/2006/metadata/properties"/>
    <ds:schemaRef ds:uri="40262f94-9f35-4ac3-9a90-690165a166b7"/>
    <ds:schemaRef ds:uri="a4f35948-e619-41b3-aa29-22878b09cfd2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02F2BE50-DDB3-465B-A26E-975A276D436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Presentación empresarial de contraste (panorámica)</Template>
  <TotalTime>159</TotalTime>
  <Words>317</Words>
  <Application>Microsoft Office PowerPoint</Application>
  <PresentationFormat>Personalizado</PresentationFormat>
  <Paragraphs>38</Paragraphs>
  <Slides>15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23" baseType="lpstr">
      <vt:lpstr>Aptos</vt:lpstr>
      <vt:lpstr>Aptos Display</vt:lpstr>
      <vt:lpstr>Arial</vt:lpstr>
      <vt:lpstr>Calibri</vt:lpstr>
      <vt:lpstr>Franklin Gothic Medium</vt:lpstr>
      <vt:lpstr>Symbol</vt:lpstr>
      <vt:lpstr>Times New Roman</vt:lpstr>
      <vt:lpstr>Empresarial Contraste 16x9</vt:lpstr>
      <vt:lpstr>PROYECTO APLICATIVO MOVIL “HOTELSYS”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I202403725 (Aliaga Parraga,Luis Erick)</dc:creator>
  <cp:lastModifiedBy>I202403725 (Aliaga Parraga,Luis Erick)</cp:lastModifiedBy>
  <cp:revision>4</cp:revision>
  <dcterms:created xsi:type="dcterms:W3CDTF">2025-10-09T02:37:43Z</dcterms:created>
  <dcterms:modified xsi:type="dcterms:W3CDTF">2025-10-11T02:02:48Z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0x010100AA3F7D94069FF64A86F7DFF56D60E3BE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